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</p:sldIdLst>
  <p:sldSz cx="9144000" cy="5143500" type="screen16x9"/>
  <p:notesSz cx="5143500" cy="9144000"/>
  <p:defaultTextStyle>
    <a:defPPr lvl="0"/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3" d="100"/>
          <a:sy n="123" d="100"/>
        </p:scale>
        <p:origin x="29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A1F8C-B10B-C84D-94FC-B3DA01C1C20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02761-92A6-8544-9B98-D45CEE3CC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636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DDE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6" name="Image 0" descr="vtu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ವಿಶ್ವೇಶ್ವರಯ್ಯ ತಾಂತ್ರಿಕ ವಿಶ್ವವಿದ್ಯಾಲಯ, ಬೆಳಗಾವಿ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Visvesvaraya Technological University, Belagavi</a:t>
            </a:r>
            <a:endParaRPr lang="en-US" sz="950" dirty="0"/>
          </a:p>
        </p:txBody>
      </p:sp>
      <p:pic>
        <p:nvPicPr>
          <p:cNvPr id="9" name="Image 1" descr="quc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2E1B5B"/>
                </a:solidFill>
              </a:rPr>
              <a:t>QISKIT FALL FEST 2026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 dirty="0">
                <a:solidFill>
                  <a:srgbClr val="5B3BA8"/>
                </a:solidFill>
              </a:rPr>
              <a:t>IBM Quantum</a:t>
            </a:r>
            <a:endParaRPr lang="en-US" sz="950" dirty="0"/>
          </a:p>
        </p:txBody>
      </p:sp>
      <p:pic>
        <p:nvPicPr>
          <p:cNvPr id="12" name="Image 2" descr="badg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E1B5B"/>
                </a:solidFill>
              </a:rPr>
              <a:t>QISKIT FALL FEST 2026  ·  HOSTED BY VTU, BELAGAVI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3BA8"/>
                </a:solidFill>
              </a:rPr>
              <a:t>27 – 31 OCT 2026</a:t>
            </a:r>
            <a:endParaRPr lang="en-US" sz="8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DDE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6" name="Image 0" descr="vtu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ವಿಶ್ವೇಶ್ವರಯ್ಯ ತಾಂತ್ರಿಕ ವಿಶ್ವವಿದ್ಯಾಲಯ, ಬೆಳಗಾವಿ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Visvesvaraya Technological University, Belagavi</a:t>
            </a:r>
            <a:endParaRPr lang="en-US" sz="950" dirty="0"/>
          </a:p>
        </p:txBody>
      </p:sp>
      <p:pic>
        <p:nvPicPr>
          <p:cNvPr id="9" name="Image 1" descr="quc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2E1B5B"/>
                </a:solidFill>
              </a:rPr>
              <a:t>QISKIT FALL FEST 2026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 dirty="0">
                <a:solidFill>
                  <a:srgbClr val="5B3BA8"/>
                </a:solidFill>
              </a:rPr>
              <a:t>IBM Quantum</a:t>
            </a:r>
            <a:endParaRPr lang="en-US" sz="950" dirty="0"/>
          </a:p>
        </p:txBody>
      </p:sp>
      <p:pic>
        <p:nvPicPr>
          <p:cNvPr id="12" name="Image 2" descr="badg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E1B5B"/>
                </a:solidFill>
              </a:rPr>
              <a:t>QISKIT FALL FEST 2026  ·  HOSTED BY VTU, BELAGAVI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3BA8"/>
                </a:solidFill>
              </a:rPr>
              <a:t>27 – 31 OCT 2026</a:t>
            </a:r>
            <a:endParaRPr lang="en-US" sz="850" dirty="0"/>
          </a:p>
        </p:txBody>
      </p:sp>
      <p:pic>
        <p:nvPicPr>
          <p:cNvPr id="19" name="Image 3" descr="sphe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822960"/>
            <a:ext cx="777240" cy="777240"/>
          </a:xfrm>
          <a:prstGeom prst="rect">
            <a:avLst/>
          </a:prstGeom>
        </p:spPr>
      </p:pic>
      <p:pic>
        <p:nvPicPr>
          <p:cNvPr id="20" name="Image 4" descr="bird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868680"/>
            <a:ext cx="548640" cy="329184"/>
          </a:xfrm>
          <a:prstGeom prst="rect">
            <a:avLst/>
          </a:prstGeom>
        </p:spPr>
      </p:pic>
      <p:pic>
        <p:nvPicPr>
          <p:cNvPr id="21" name="Image 5" descr="bird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1261872"/>
            <a:ext cx="384048" cy="228600"/>
          </a:xfrm>
          <a:prstGeom prst="rect">
            <a:avLst/>
          </a:prstGeom>
        </p:spPr>
      </p:pic>
      <p:sp>
        <p:nvSpPr>
          <p:cNvPr id="2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s://github.com/vtu-qiskit-fall-fest-2026/vtu-hc-team-cis" TargetMode="Externa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hyperlink" Target="https://youtu.be/Lfiy4g3N-Mo?si=_hdOXJs-LKXFHCs8" TargetMode="External"/><Relationship Id="rId9" Type="http://schemas.openxmlformats.org/officeDocument/2006/relationships/hyperlink" Target="https://q-med-lab-project-rh6g1y0su-abdulrazak5764s-projects.vercel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PRESENTATION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Qiskit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E863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 Fest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· Team Details</a:t>
            </a:r>
            <a:endParaRPr lang="en-US" sz="1300" dirty="0"/>
          </a:p>
        </p:txBody>
      </p:sp>
      <p:pic>
        <p:nvPicPr>
          <p:cNvPr id="5" name="Bloch sphere ring" descr="sphe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91840"/>
            <a:ext cx="1371600" cy="1371600"/>
          </a:xfrm>
          <a:prstGeom prst="rect">
            <a:avLst/>
          </a:prstGeom>
        </p:spPr>
      </p:pic>
      <p:pic>
        <p:nvPicPr>
          <p:cNvPr id="6" name="Image 1" descr="bir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3429000"/>
            <a:ext cx="731520" cy="438912"/>
          </a:xfrm>
          <a:prstGeom prst="rect">
            <a:avLst/>
          </a:prstGeom>
        </p:spPr>
      </p:pic>
      <p:pic>
        <p:nvPicPr>
          <p:cNvPr id="7" name="Image 2" descr="bir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3977640"/>
            <a:ext cx="502920" cy="301752"/>
          </a:xfrm>
          <a:prstGeom prst="rect">
            <a:avLst/>
          </a:prstGeom>
        </p:spPr>
      </p:pic>
      <p:pic>
        <p:nvPicPr>
          <p:cNvPr id="8" name="Image 3" descr="bir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1720" y="4297680"/>
            <a:ext cx="384048" cy="22860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4023360" y="8412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Participant Details</a:t>
            </a:r>
            <a:endParaRPr lang="en-US" sz="1600" dirty="0"/>
          </a:p>
        </p:txBody>
      </p:sp>
      <p:sp>
        <p:nvSpPr>
          <p:cNvPr id="10" name="Field: PROJECT TITLE"/>
          <p:cNvSpPr/>
          <p:nvPr/>
        </p:nvSpPr>
        <p:spPr>
          <a:xfrm>
            <a:off x="4023360" y="1261872"/>
            <a:ext cx="46634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9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Q-MedLab: A Quantum-Powered Virtual Medical Laboratory</a:t>
            </a:r>
            <a:endParaRPr lang="en-US" sz="900" dirty="0"/>
          </a:p>
        </p:txBody>
      </p:sp>
      <p:sp>
        <p:nvSpPr>
          <p:cNvPr id="11" name="Field: TRACK"/>
          <p:cNvSpPr/>
          <p:nvPr/>
        </p:nvSpPr>
        <p:spPr>
          <a:xfrm>
            <a:off x="4023360" y="18653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900" dirty="0"/>
          </a:p>
          <a:p>
            <a:pPr marL="0" indent="0" algn="l">
              <a:buNone/>
            </a:pPr>
            <a:r>
              <a:rPr lang="en-US" sz="800" b="1" dirty="0" smtClean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Technology for Medical Application &amp; Sensing</a:t>
            </a:r>
            <a:endParaRPr lang="en-US" sz="800" b="1" dirty="0"/>
          </a:p>
        </p:txBody>
      </p:sp>
      <p:sp>
        <p:nvSpPr>
          <p:cNvPr id="12" name="Field: TEAM NAME"/>
          <p:cNvSpPr/>
          <p:nvPr/>
        </p:nvSpPr>
        <p:spPr>
          <a:xfrm>
            <a:off x="6400800" y="18653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900" dirty="0"/>
          </a:p>
          <a:p>
            <a:pPr marL="0" indent="0" algn="l">
              <a:buNone/>
            </a:pPr>
            <a:r>
              <a:rPr lang="en-US" sz="1100" dirty="0" smtClean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- CIS</a:t>
            </a:r>
            <a:endParaRPr lang="en-US" sz="900" dirty="0"/>
          </a:p>
        </p:txBody>
      </p:sp>
      <p:sp>
        <p:nvSpPr>
          <p:cNvPr id="13" name="Field: TEAM LEADER"/>
          <p:cNvSpPr/>
          <p:nvPr/>
        </p:nvSpPr>
        <p:spPr>
          <a:xfrm>
            <a:off x="4023360" y="246888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900" dirty="0"/>
          </a:p>
          <a:p>
            <a:r>
              <a:rPr lang="en-US" sz="11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Abdul </a:t>
            </a:r>
            <a:r>
              <a:rPr lang="en-US" sz="1100" dirty="0" err="1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Razak</a:t>
            </a:r>
            <a:endParaRPr lang="en-US" sz="900" dirty="0"/>
          </a:p>
        </p:txBody>
      </p:sp>
      <p:sp>
        <p:nvSpPr>
          <p:cNvPr id="14" name="Field: EMAIL / CONTACT"/>
          <p:cNvSpPr/>
          <p:nvPr/>
        </p:nvSpPr>
        <p:spPr>
          <a:xfrm>
            <a:off x="6400800" y="246888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CONTACT</a:t>
            </a:r>
            <a:endParaRPr lang="en-US" sz="900" dirty="0"/>
          </a:p>
          <a:p>
            <a:pPr marL="0" indent="0" algn="l">
              <a:buNone/>
            </a:pPr>
            <a:r>
              <a:rPr lang="en-US" sz="1050" dirty="0" smtClean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abdulrazakshaik87@gmail.com</a:t>
            </a:r>
            <a:endParaRPr lang="en-US" sz="900" dirty="0"/>
          </a:p>
        </p:txBody>
      </p:sp>
      <p:sp>
        <p:nvSpPr>
          <p:cNvPr id="15" name="Field: TEAM MEMBERS"/>
          <p:cNvSpPr/>
          <p:nvPr/>
        </p:nvSpPr>
        <p:spPr>
          <a:xfrm>
            <a:off x="4023360" y="3072384"/>
            <a:ext cx="4663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9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Sreeja · L. </a:t>
            </a:r>
            <a:r>
              <a:rPr lang="en-US" sz="1100" dirty="0" err="1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Sindhuja</a:t>
            </a:r>
            <a:r>
              <a:rPr lang="en-US" sz="11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</p:txBody>
      </p:sp>
      <p:sp>
        <p:nvSpPr>
          <p:cNvPr id="16" name="Field: INSTITUTION / ORGANISATION"/>
          <p:cNvSpPr/>
          <p:nvPr/>
        </p:nvSpPr>
        <p:spPr>
          <a:xfrm>
            <a:off x="4023360" y="39227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/ ORGANISATION</a:t>
            </a:r>
            <a:endParaRPr lang="en-US" sz="9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Chaitanya Deemed University</a:t>
            </a:r>
            <a:endParaRPr lang="en-US" sz="900" dirty="0"/>
          </a:p>
        </p:txBody>
      </p:sp>
      <p:sp>
        <p:nvSpPr>
          <p:cNvPr id="17" name="Field: COUNTRY"/>
          <p:cNvSpPr/>
          <p:nvPr/>
        </p:nvSpPr>
        <p:spPr>
          <a:xfrm>
            <a:off x="6400800" y="39227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9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Hyderabad, India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01" name="Problem text"/>
          <p:cNvSpPr txBox="1"/>
          <p:nvPr/>
        </p:nvSpPr>
        <p:spPr>
          <a:xfrm>
            <a:off x="640080" y="1828800"/>
            <a:ext cx="4846320" cy="2651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Quantum computing is entering healthcare research, but medical students almost never get to use it.</a:t>
            </a: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30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Commercial suites such as Schrödinger cost USD 25,000–100,000 per user per year</a:t>
            </a: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30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IBM Quantum and Azure Quantum expect hand-written circuits and are not built for medical education</a:t>
            </a: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30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Labster-style virtual labs have no-code interfaces but no quantum content</a:t>
            </a: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30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No teaching tool exists yet for quantum-ML antibiotic resistance, a very recent research area</a:t>
            </a:r>
          </a:p>
        </p:txBody>
      </p:sp>
      <p:sp>
        <p:nvSpPr>
          <p:cNvPr id="102" name="Stat 1"/>
          <p:cNvSpPr/>
          <p:nvPr/>
        </p:nvSpPr>
        <p:spPr>
          <a:xfrm>
            <a:off x="5760720" y="1828800"/>
            <a:ext cx="2743200" cy="786384"/>
          </a:xfrm>
          <a:prstGeom prst="roundRect">
            <a:avLst>
              <a:gd name="adj" fmla="val 8000"/>
            </a:avLst>
          </a:prstGeom>
          <a:solidFill>
            <a:srgbClr val="EEF0FE"/>
          </a:solidFill>
          <a:ln>
            <a:noFill/>
          </a:ln>
        </p:spPr>
        <p:txBody>
          <a:bodyPr wrap="square" lIns="137160" tIns="45720" rIns="91440" bIns="4572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2000" b="1" dirty="0">
                <a:solidFill>
                  <a:srgbClr val="5B3BA8"/>
                </a:solidFill>
                <a:latin typeface="Georgia"/>
                <a:ea typeface="Georgia"/>
                <a:cs typeface="Georgia"/>
              </a:rPr>
              <a:t>9.5%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050" dirty="0">
                <a:solidFill>
                  <a:srgbClr val="6F7399"/>
                </a:solidFill>
                <a:latin typeface="Calibri"/>
                <a:ea typeface="Calibri"/>
                <a:cs typeface="Calibri"/>
              </a:rPr>
              <a:t>of 169 reviewed studies ran on real quantum hardware (16 studies)</a:t>
            </a:r>
          </a:p>
        </p:txBody>
      </p:sp>
      <p:sp>
        <p:nvSpPr>
          <p:cNvPr id="103" name="Stat 2"/>
          <p:cNvSpPr/>
          <p:nvPr/>
        </p:nvSpPr>
        <p:spPr>
          <a:xfrm>
            <a:off x="5760720" y="2724912"/>
            <a:ext cx="2743200" cy="786384"/>
          </a:xfrm>
          <a:prstGeom prst="roundRect">
            <a:avLst>
              <a:gd name="adj" fmla="val 8000"/>
            </a:avLst>
          </a:prstGeom>
          <a:solidFill>
            <a:srgbClr val="EEF0FE"/>
          </a:solidFill>
          <a:ln>
            <a:noFill/>
          </a:ln>
        </p:spPr>
        <p:txBody>
          <a:bodyPr wrap="square" lIns="137160" tIns="45720" rIns="91440" bIns="4572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2000" b="1" dirty="0">
                <a:solidFill>
                  <a:srgbClr val="5B3BA8"/>
                </a:solidFill>
                <a:latin typeface="Georgia"/>
                <a:ea typeface="Georgia"/>
                <a:cs typeface="Georgia"/>
              </a:rPr>
              <a:t>USD 25K–100K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050" dirty="0">
                <a:solidFill>
                  <a:srgbClr val="6F7399"/>
                </a:solidFill>
                <a:latin typeface="Calibri"/>
                <a:ea typeface="Calibri"/>
                <a:cs typeface="Calibri"/>
              </a:rPr>
              <a:t>per user per year for commercial molecular simulation</a:t>
            </a:r>
          </a:p>
        </p:txBody>
      </p:sp>
      <p:sp>
        <p:nvSpPr>
          <p:cNvPr id="104" name="Stat 3"/>
          <p:cNvSpPr/>
          <p:nvPr/>
        </p:nvSpPr>
        <p:spPr>
          <a:xfrm>
            <a:off x="5760720" y="3621024"/>
            <a:ext cx="2743200" cy="786384"/>
          </a:xfrm>
          <a:prstGeom prst="roundRect">
            <a:avLst>
              <a:gd name="adj" fmla="val 8000"/>
            </a:avLst>
          </a:prstGeom>
          <a:solidFill>
            <a:srgbClr val="EEF0FE"/>
          </a:solidFill>
          <a:ln>
            <a:noFill/>
          </a:ln>
        </p:spPr>
        <p:txBody>
          <a:bodyPr wrap="square" lIns="137160" tIns="45720" rIns="91440" bIns="4572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2000" b="1" dirty="0">
                <a:solidFill>
                  <a:srgbClr val="5B3BA8"/>
                </a:solidFill>
                <a:latin typeface="Georgia"/>
                <a:ea typeface="Georgia"/>
                <a:cs typeface="Georgia"/>
              </a:rPr>
              <a:t>0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050" dirty="0">
                <a:solidFill>
                  <a:srgbClr val="6F7399"/>
                </a:solidFill>
                <a:latin typeface="Calibri"/>
                <a:ea typeface="Calibri"/>
                <a:cs typeface="Calibri"/>
              </a:rPr>
              <a:t>quantum modules in existing medical virtual labs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 &amp; Novelty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05" name="Objectives"/>
          <p:cNvSpPr txBox="1"/>
          <p:nvPr/>
        </p:nvSpPr>
        <p:spPr>
          <a:xfrm>
            <a:off x="640080" y="1828800"/>
            <a:ext cx="3794760" cy="2651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5B3BA8"/>
                </a:solidFill>
                <a:latin typeface="Calibri"/>
                <a:ea typeface="Calibri"/>
                <a:cs typeface="Calibri"/>
              </a:rPr>
              <a:t>Objectives</a:t>
            </a: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30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Browser-based virtual lab that runs real quantum algorithms with no code</a:t>
            </a: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30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Four healthcare modules: Grover (diagnosis), VQE (docking), QSVM (resistance), QCNN (imaging)</a:t>
            </a: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30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AI layer that turns raw quantum output into clinical language with confidence scores</a:t>
            </a: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30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Four role-based portals: Student, Researcher, Clinician, Administrator</a:t>
            </a:r>
          </a:p>
        </p:txBody>
      </p:sp>
      <p:sp>
        <p:nvSpPr>
          <p:cNvPr id="106" name="Novelty"/>
          <p:cNvSpPr txBox="1"/>
          <p:nvPr/>
        </p:nvSpPr>
        <p:spPr>
          <a:xfrm>
            <a:off x="4709160" y="1828800"/>
            <a:ext cx="3794760" cy="2651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5B3BA8"/>
                </a:solidFill>
                <a:latin typeface="Calibri"/>
                <a:ea typeface="Calibri"/>
                <a:cs typeface="Calibri"/>
              </a:rPr>
              <a:t>Novelty</a:t>
            </a: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30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First platform to combine real quantum computation, a healthcare curriculum and free student access</a:t>
            </a: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30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Automatic fallback to Qiskit Aer when the IBM queue is long, so users always get a result</a:t>
            </a: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30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Quantum-vs-classical comparison, NISQ noise sandbox, QGAN augmentation and a leaderboard</a:t>
            </a: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30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Honest scope: a teaching and research tool, not a clinical device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&amp; Quantum Advantage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07" name="Solution intro"/>
          <p:cNvSpPr txBox="1"/>
          <p:nvPr/>
        </p:nvSpPr>
        <p:spPr>
          <a:xfrm>
            <a:off x="640080" y="182880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20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Pick an experiment in the browser  →  FastAPI builds a Qiskit circuit  →  runs on IBM hardware or Qiskit Aer  →  AI layer explains the result.</a:t>
            </a:r>
          </a:p>
        </p:txBody>
      </p:sp>
      <p:sp>
        <p:nvSpPr>
          <p:cNvPr id="108" name="Module 1"/>
          <p:cNvSpPr/>
          <p:nvPr/>
        </p:nvSpPr>
        <p:spPr>
          <a:xfrm>
            <a:off x="640080" y="2377440"/>
            <a:ext cx="1828800" cy="1463040"/>
          </a:xfrm>
          <a:prstGeom prst="roundRect">
            <a:avLst>
              <a:gd name="adj" fmla="val 6000"/>
            </a:avLst>
          </a:prstGeom>
          <a:solidFill>
            <a:srgbClr val="EEF0FE"/>
          </a:solidFill>
          <a:ln>
            <a:noFill/>
          </a:ln>
        </p:spPr>
        <p:txBody>
          <a:bodyPr wrap="square" lIns="109728" tIns="91440" rIns="91440" bIns="45720" rtlCol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E8639F"/>
                </a:solidFill>
                <a:latin typeface="Calibri"/>
                <a:ea typeface="Calibri"/>
                <a:cs typeface="Calibri"/>
              </a:rPr>
              <a:t>MODULE 1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Disease Diagnosis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5B3BA8"/>
                </a:solidFill>
                <a:latin typeface="Calibri"/>
                <a:ea typeface="Calibri"/>
                <a:cs typeface="Calibri"/>
              </a:rPr>
              <a:t>Grover's Search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050" dirty="0">
                <a:solidFill>
                  <a:srgbClr val="6F7399"/>
                </a:solidFill>
                <a:latin typeface="Calibri"/>
                <a:ea typeface="Calibri"/>
                <a:cs typeface="Calibri"/>
              </a:rPr>
              <a:t>Quadratic speed-up over the 84-symptom search space</a:t>
            </a:r>
          </a:p>
        </p:txBody>
      </p:sp>
      <p:sp>
        <p:nvSpPr>
          <p:cNvPr id="109" name="Module 2"/>
          <p:cNvSpPr/>
          <p:nvPr/>
        </p:nvSpPr>
        <p:spPr>
          <a:xfrm>
            <a:off x="2651760" y="2377440"/>
            <a:ext cx="1828800" cy="1463040"/>
          </a:xfrm>
          <a:prstGeom prst="roundRect">
            <a:avLst>
              <a:gd name="adj" fmla="val 6000"/>
            </a:avLst>
          </a:prstGeom>
          <a:solidFill>
            <a:srgbClr val="EEF0FE"/>
          </a:solidFill>
          <a:ln>
            <a:noFill/>
          </a:ln>
        </p:spPr>
        <p:txBody>
          <a:bodyPr wrap="square" lIns="109728" tIns="91440" rIns="91440" bIns="45720" rtlCol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E8639F"/>
                </a:solidFill>
                <a:latin typeface="Calibri"/>
                <a:ea typeface="Calibri"/>
                <a:cs typeface="Calibri"/>
              </a:rPr>
              <a:t>MODULE 2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Drug–Protein Docking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5B3BA8"/>
                </a:solidFill>
                <a:latin typeface="Calibri"/>
                <a:ea typeface="Calibri"/>
                <a:cs typeface="Calibri"/>
              </a:rPr>
              <a:t>VQE (UCCSD ansatz)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050" dirty="0">
                <a:solidFill>
                  <a:srgbClr val="6F7399"/>
                </a:solidFill>
                <a:latin typeface="Calibri"/>
                <a:ea typeface="Calibri"/>
                <a:cs typeface="Calibri"/>
              </a:rPr>
              <a:t>Estimates binding energy from the molecular Hamiltonian</a:t>
            </a:r>
          </a:p>
        </p:txBody>
      </p:sp>
      <p:sp>
        <p:nvSpPr>
          <p:cNvPr id="110" name="Module 3"/>
          <p:cNvSpPr/>
          <p:nvPr/>
        </p:nvSpPr>
        <p:spPr>
          <a:xfrm>
            <a:off x="4663440" y="2377440"/>
            <a:ext cx="1828800" cy="1463040"/>
          </a:xfrm>
          <a:prstGeom prst="roundRect">
            <a:avLst>
              <a:gd name="adj" fmla="val 6000"/>
            </a:avLst>
          </a:prstGeom>
          <a:solidFill>
            <a:srgbClr val="EEF0FE"/>
          </a:solidFill>
          <a:ln>
            <a:noFill/>
          </a:ln>
        </p:spPr>
        <p:txBody>
          <a:bodyPr wrap="square" lIns="109728" tIns="91440" rIns="91440" bIns="45720" rtlCol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E8639F"/>
                </a:solidFill>
                <a:latin typeface="Calibri"/>
                <a:ea typeface="Calibri"/>
                <a:cs typeface="Calibri"/>
              </a:rPr>
              <a:t>MODULE 3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Antibiotic Resistance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5B3BA8"/>
                </a:solidFill>
                <a:latin typeface="Calibri"/>
                <a:ea typeface="Calibri"/>
                <a:cs typeface="Calibri"/>
              </a:rPr>
              <a:t>QSVM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050" dirty="0">
                <a:solidFill>
                  <a:srgbClr val="6F7399"/>
                </a:solidFill>
                <a:latin typeface="Calibri"/>
                <a:ea typeface="Calibri"/>
                <a:cs typeface="Calibri"/>
              </a:rPr>
              <a:t>Quantum kernel in a high-dimensional feature space</a:t>
            </a:r>
          </a:p>
        </p:txBody>
      </p:sp>
      <p:sp>
        <p:nvSpPr>
          <p:cNvPr id="111" name="Module 4"/>
          <p:cNvSpPr/>
          <p:nvPr/>
        </p:nvSpPr>
        <p:spPr>
          <a:xfrm>
            <a:off x="6675120" y="2377440"/>
            <a:ext cx="1828800" cy="1463040"/>
          </a:xfrm>
          <a:prstGeom prst="roundRect">
            <a:avLst>
              <a:gd name="adj" fmla="val 6000"/>
            </a:avLst>
          </a:prstGeom>
          <a:solidFill>
            <a:srgbClr val="EEF0FE"/>
          </a:solidFill>
          <a:ln>
            <a:noFill/>
          </a:ln>
        </p:spPr>
        <p:txBody>
          <a:bodyPr wrap="square" lIns="109728" tIns="91440" rIns="91440" bIns="45720" rtlCol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E8639F"/>
                </a:solidFill>
                <a:latin typeface="Calibri"/>
                <a:ea typeface="Calibri"/>
                <a:cs typeface="Calibri"/>
              </a:rPr>
              <a:t>MODULE 4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Medical Imaging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5B3BA8"/>
                </a:solidFill>
                <a:latin typeface="Calibri"/>
                <a:ea typeface="Calibri"/>
                <a:cs typeface="Calibri"/>
              </a:rPr>
              <a:t>QCNN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050" dirty="0">
                <a:solidFill>
                  <a:srgbClr val="6F7399"/>
                </a:solidFill>
                <a:latin typeface="Calibri"/>
                <a:ea typeface="Calibri"/>
                <a:cs typeface="Calibri"/>
              </a:rPr>
              <a:t>Amplitude-encodes MRI / CT / X-ray images into 8 qubits</a:t>
            </a:r>
          </a:p>
        </p:txBody>
      </p:sp>
      <p:sp>
        <p:nvSpPr>
          <p:cNvPr id="112" name="Advantage note"/>
          <p:cNvSpPr txBox="1"/>
          <p:nvPr/>
        </p:nvSpPr>
        <p:spPr>
          <a:xfrm>
            <a:off x="640080" y="3950208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 dirty="0">
                <a:solidFill>
                  <a:srgbClr val="5B3BA8"/>
                </a:solidFill>
                <a:latin typeface="Calibri"/>
                <a:ea typeface="Calibri"/>
                <a:cs typeface="Calibri"/>
              </a:rPr>
              <a:t>Quantum advantage: </a:t>
            </a:r>
            <a:r>
              <a:rPr lang="en-US" sz="110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Grover gives a quadratic search speed-up; VQE, QSVM and QCNN use high-dimensional quantum state spaces. Our runs are simulator-based on small datasets, so we demonstrate the algorithms, not a proven advantage.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&amp; Circuit Design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Insert area"/>
          <p:cNvSpPr/>
          <p:nvPr/>
        </p:nvSpPr>
        <p:spPr>
          <a:xfrm>
            <a:off x="457200" y="16916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8" name="Content card"/>
          <p:cNvSpPr/>
          <p:nvPr/>
        </p:nvSpPr>
        <p:spPr>
          <a:xfrm>
            <a:off x="5577840" y="1691640"/>
            <a:ext cx="3108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9" name="Card accent"/>
          <p:cNvSpPr/>
          <p:nvPr/>
        </p:nvSpPr>
        <p:spPr>
          <a:xfrm>
            <a:off x="580644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pic>
        <p:nvPicPr>
          <p:cNvPr id="113" name="Architecture figure" descr="Q-MedLab system overview: students and researchers, cloud platform, four modules, advanced featur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783080"/>
            <a:ext cx="2042695" cy="2743200"/>
          </a:xfrm>
          <a:prstGeom prst="rect">
            <a:avLst/>
          </a:prstGeom>
        </p:spPr>
      </p:pic>
      <p:sp>
        <p:nvSpPr>
          <p:cNvPr id="114" name="Pipeline"/>
          <p:cNvSpPr txBox="1"/>
          <p:nvPr/>
        </p:nvSpPr>
        <p:spPr>
          <a:xfrm>
            <a:off x="2746783" y="1810512"/>
            <a:ext cx="2483585" cy="274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5B3BA8"/>
                </a:solidFill>
                <a:latin typeface="Calibri"/>
                <a:ea typeface="Calibri"/>
                <a:cs typeface="Calibri"/>
              </a:rPr>
              <a:t>Five-phase pipeline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1  Input encoding: </a:t>
            </a:r>
            <a:r>
              <a:rPr lang="en-US" sz="105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symptoms, drug, bacteria or image mapped to datasets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2  Circuit build: </a:t>
            </a:r>
            <a:r>
              <a:rPr lang="en-US" sz="105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Grover oracle + diffusion, Hamiltonian (Jordan–Wigner), ZZFeatureMap, amplitude encoding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3  Execution: </a:t>
            </a:r>
            <a:r>
              <a:rPr lang="en-US" sz="105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Aer, IBM Eagle or other provider; Aer fallback if queue &gt; 5 min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4  Post-processing: </a:t>
            </a:r>
            <a:r>
              <a:rPr lang="en-US" sz="105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histograms, energies, kernels → medical metrics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5  Explanation: </a:t>
            </a:r>
            <a:r>
              <a:rPr lang="en-US" sz="105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AI layer writes the clinical summary</a:t>
            </a:r>
          </a:p>
        </p:txBody>
      </p:sp>
      <p:sp>
        <p:nvSpPr>
          <p:cNvPr id="115" name="Config"/>
          <p:cNvSpPr txBox="1"/>
          <p:nvPr/>
        </p:nvSpPr>
        <p:spPr>
          <a:xfrm>
            <a:off x="5760720" y="1828800"/>
            <a:ext cx="2743200" cy="2697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B3BA8"/>
                </a:solidFill>
                <a:latin typeface="Calibri"/>
                <a:ea typeface="Calibri"/>
                <a:cs typeface="Calibri"/>
              </a:rPr>
              <a:t>Module configuration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100" b="1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M1 Grover + Amplitude Est.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lang="en-US" sz="1050" dirty="0">
                <a:solidFill>
                  <a:srgbClr val="6F7399"/>
                </a:solidFill>
                <a:latin typeface="Calibri"/>
                <a:ea typeface="Calibri"/>
                <a:cs typeface="Calibri"/>
              </a:rPr>
              <a:t>5–6 qubits · 4–5 iterations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100" b="1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M2 VQE (UCCSD)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lang="en-US" sz="1050" dirty="0">
                <a:solidFill>
                  <a:srgbClr val="6F7399"/>
                </a:solidFill>
                <a:latin typeface="Calibri"/>
                <a:ea typeface="Calibri"/>
                <a:cs typeface="Calibri"/>
              </a:rPr>
              <a:t>4–12 qubits · depth 1–5 · 2,048 shots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100" b="1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M3 QSVM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lang="en-US" sz="1050" dirty="0">
                <a:solidFill>
                  <a:srgbClr val="6F7399"/>
                </a:solidFill>
                <a:latin typeface="Calibri"/>
                <a:ea typeface="Calibri"/>
                <a:cs typeface="Calibri"/>
              </a:rPr>
              <a:t>4–5 qubits · ZFeatureMap + ZZFeatureMap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100" b="1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M4 QCNN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lang="en-US" sz="1050" dirty="0">
                <a:solidFill>
                  <a:srgbClr val="6F7399"/>
                </a:solidFill>
                <a:latin typeface="Calibri"/>
                <a:ea typeface="Calibri"/>
                <a:cs typeface="Calibri"/>
              </a:rPr>
              <a:t>8 qubits · 4 parameterised layers</a:t>
            </a:r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50" i="1" dirty="0">
                <a:solidFill>
                  <a:srgbClr val="6F7399"/>
                </a:solidFill>
                <a:latin typeface="Calibri"/>
                <a:ea typeface="Calibri"/>
                <a:cs typeface="Calibri"/>
              </a:rPr>
              <a:t>Five layers: UI → AI layer → quantum modules → Qiskit execution → cloud.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&amp; Tech Stack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16" name="Frontend"/>
          <p:cNvSpPr/>
          <p:nvPr/>
        </p:nvSpPr>
        <p:spPr>
          <a:xfrm>
            <a:off x="640080" y="1828800"/>
            <a:ext cx="2514600" cy="2240280"/>
          </a:xfrm>
          <a:prstGeom prst="roundRect">
            <a:avLst>
              <a:gd name="adj" fmla="val 5000"/>
            </a:avLst>
          </a:prstGeom>
          <a:solidFill>
            <a:srgbClr val="EEF0FE"/>
          </a:solidFill>
          <a:ln>
            <a:noFill/>
          </a:ln>
        </p:spPr>
        <p:txBody>
          <a:bodyPr wrap="square" lIns="137160" tIns="91440" rIns="91440" bIns="45720" rtlCol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5B3BA8"/>
                </a:solidFill>
                <a:latin typeface="Calibri"/>
                <a:ea typeface="Calibri"/>
                <a:cs typeface="Calibri"/>
              </a:rPr>
              <a:t>Frontend</a:t>
            </a:r>
          </a:p>
          <a:p>
            <a:pPr marL="171450" indent="-171450" algn="l">
              <a:spcAft>
                <a:spcPts val="3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25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React.js 18, Three.js, WebGL</a:t>
            </a:r>
          </a:p>
          <a:p>
            <a:pPr marL="171450" indent="-171450" algn="l">
              <a:spcAft>
                <a:spcPts val="3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25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3D Bloch sphere and molecule viewer</a:t>
            </a:r>
          </a:p>
          <a:p>
            <a:pPr marL="171450" indent="-171450" algn="l">
              <a:spcAft>
                <a:spcPts val="3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25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D3.js, Plotly, Tailwind CSS</a:t>
            </a:r>
          </a:p>
          <a:p>
            <a:pPr marL="171450" indent="-171450" algn="l">
              <a:spcAft>
                <a:spcPts val="3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25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Drag-and-drop circuit builder</a:t>
            </a:r>
          </a:p>
          <a:p>
            <a:pPr marL="171450" indent="-171450" algn="l">
              <a:spcAft>
                <a:spcPts val="3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25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Four role-based portals</a:t>
            </a:r>
          </a:p>
        </p:txBody>
      </p:sp>
      <p:sp>
        <p:nvSpPr>
          <p:cNvPr id="117" name="Backend"/>
          <p:cNvSpPr/>
          <p:nvPr/>
        </p:nvSpPr>
        <p:spPr>
          <a:xfrm>
            <a:off x="3314700" y="1828800"/>
            <a:ext cx="2514600" cy="2240280"/>
          </a:xfrm>
          <a:prstGeom prst="roundRect">
            <a:avLst>
              <a:gd name="adj" fmla="val 5000"/>
            </a:avLst>
          </a:prstGeom>
          <a:solidFill>
            <a:srgbClr val="EEF0FE"/>
          </a:solidFill>
          <a:ln>
            <a:noFill/>
          </a:ln>
        </p:spPr>
        <p:txBody>
          <a:bodyPr wrap="square" lIns="137160" tIns="91440" rIns="91440" bIns="45720" rtlCol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5B3BA8"/>
                </a:solidFill>
                <a:latin typeface="Calibri"/>
                <a:ea typeface="Calibri"/>
                <a:cs typeface="Calibri"/>
              </a:rPr>
              <a:t>Backend</a:t>
            </a:r>
          </a:p>
          <a:p>
            <a:pPr marL="171450" indent="-171450" algn="l">
              <a:spcAft>
                <a:spcPts val="3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25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Python 3.10+ with FastAPI</a:t>
            </a:r>
          </a:p>
          <a:p>
            <a:pPr marL="171450" indent="-171450" algn="l">
              <a:spcAft>
                <a:spcPts val="3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25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One module per algorithm (Grover, VQE, QSVM, QCNN)</a:t>
            </a:r>
          </a:p>
          <a:p>
            <a:pPr marL="171450" indent="-171450" algn="l">
              <a:spcAft>
                <a:spcPts val="3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25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AI explainer via LLM API</a:t>
            </a:r>
          </a:p>
          <a:p>
            <a:pPr marL="171450" indent="-171450" algn="l">
              <a:spcAft>
                <a:spcPts val="3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25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PostgreSQL 16 and Redis</a:t>
            </a:r>
          </a:p>
          <a:p>
            <a:pPr marL="171450" indent="-171450" algn="l">
              <a:spcAft>
                <a:spcPts val="3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25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Docker, Git, Postman</a:t>
            </a:r>
          </a:p>
        </p:txBody>
      </p:sp>
      <p:sp>
        <p:nvSpPr>
          <p:cNvPr id="118" name="Quantum &amp; Chemistry"/>
          <p:cNvSpPr/>
          <p:nvPr/>
        </p:nvSpPr>
        <p:spPr>
          <a:xfrm>
            <a:off x="5989320" y="1828800"/>
            <a:ext cx="2514600" cy="2240280"/>
          </a:xfrm>
          <a:prstGeom prst="roundRect">
            <a:avLst>
              <a:gd name="adj" fmla="val 5000"/>
            </a:avLst>
          </a:prstGeom>
          <a:solidFill>
            <a:srgbClr val="EEF0FE"/>
          </a:solidFill>
          <a:ln>
            <a:noFill/>
          </a:ln>
        </p:spPr>
        <p:txBody>
          <a:bodyPr wrap="square" lIns="137160" tIns="91440" rIns="91440" bIns="45720" rtlCol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5B3BA8"/>
                </a:solidFill>
                <a:latin typeface="Calibri"/>
                <a:ea typeface="Calibri"/>
                <a:cs typeface="Calibri"/>
              </a:rPr>
              <a:t>Quantum &amp; Chemistry</a:t>
            </a:r>
          </a:p>
          <a:p>
            <a:pPr marL="171450" indent="-171450" algn="l">
              <a:spcAft>
                <a:spcPts val="3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25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Qiskit 1.x and Qiskit Aer</a:t>
            </a:r>
          </a:p>
          <a:p>
            <a:pPr marL="171450" indent="-171450" algn="l">
              <a:spcAft>
                <a:spcPts val="3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25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PySCF, OpenFermion, PennyLane</a:t>
            </a:r>
          </a:p>
          <a:p>
            <a:pPr marL="171450" indent="-171450" algn="l">
              <a:spcAft>
                <a:spcPts val="3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25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IBM Quantum (Eagle 127Q)</a:t>
            </a:r>
          </a:p>
          <a:p>
            <a:pPr marL="171450" indent="-171450" algn="l">
              <a:spcAft>
                <a:spcPts val="3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25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Auto-fallback to Aer simulator</a:t>
            </a:r>
          </a:p>
          <a:p>
            <a:pPr marL="171450" indent="-171450" algn="l">
              <a:spcAft>
                <a:spcPts val="3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25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PubChem and RCSB PDB data</a:t>
            </a:r>
          </a:p>
        </p:txBody>
      </p:sp>
      <p:sp>
        <p:nvSpPr>
          <p:cNvPr id="119" name="Hardware note"/>
          <p:cNvSpPr txBox="1"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 dirty="0">
                <a:solidFill>
                  <a:srgbClr val="5B3BA8"/>
                </a:solidFill>
                <a:latin typeface="Calibri"/>
                <a:ea typeface="Calibri"/>
                <a:cs typeface="Calibri"/>
              </a:rPr>
              <a:t>Server: </a:t>
            </a:r>
            <a:r>
              <a:rPr lang="en-US" sz="110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multi-core CPU, 8 GB RAM (16 GB for 8+ qubit Aer simulation)   </a:t>
            </a:r>
            <a:r>
              <a:rPr lang="en-US" sz="1100" b="1" dirty="0">
                <a:solidFill>
                  <a:srgbClr val="5B3BA8"/>
                </a:solidFill>
                <a:latin typeface="Calibri"/>
                <a:ea typeface="Calibri"/>
                <a:cs typeface="Calibri"/>
              </a:rPr>
              <a:t>Client: </a:t>
            </a:r>
            <a:r>
              <a:rPr lang="en-US" sz="110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any modern WebGL browser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Analysis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Insert area"/>
          <p:cNvSpPr/>
          <p:nvPr/>
        </p:nvSpPr>
        <p:spPr>
          <a:xfrm>
            <a:off x="457200" y="16916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8" name="Content card"/>
          <p:cNvSpPr/>
          <p:nvPr/>
        </p:nvSpPr>
        <p:spPr>
          <a:xfrm>
            <a:off x="5577840" y="1691640"/>
            <a:ext cx="3108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9" name="Card accent"/>
          <p:cNvSpPr/>
          <p:nvPr/>
        </p:nvSpPr>
        <p:spPr>
          <a:xfrm>
            <a:off x="5806440" y="1691640"/>
            <a:ext cx="822960" cy="54864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graphicFrame>
        <p:nvGraphicFramePr>
          <p:cNvPr id="120" name="Results table"/>
          <p:cNvGraphicFramePr>
            <a:graphicFrameLocks noGrp="1"/>
          </p:cNvGraphicFramePr>
          <p:nvPr/>
        </p:nvGraphicFramePr>
        <p:xfrm>
          <a:off x="566928" y="1801368"/>
          <a:ext cx="4754880" cy="2596896"/>
        </p:xfrm>
        <a:graphic>
          <a:graphicData uri="http://schemas.openxmlformats.org/drawingml/2006/table">
            <a:tbl>
              <a:tblPr firstRow="1" bandRow="1"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Module</a:t>
                      </a:r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8BDEB"/>
                      </a:solidFill>
                    </a:lnB>
                    <a:solidFill>
                      <a:srgbClr val="5B3B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Run</a:t>
                      </a:r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8BDEB"/>
                      </a:solidFill>
                    </a:lnB>
                    <a:solidFill>
                      <a:srgbClr val="5B3B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Observed result</a:t>
                      </a:r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8BDEB"/>
                      </a:solidFill>
                    </a:lnB>
                    <a:solidFill>
                      <a:srgbClr val="5B3B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2E1B5B"/>
                          </a:solidFill>
                          <a:latin typeface="Calibri"/>
                          <a:ea typeface="Calibri"/>
                          <a:cs typeface="Calibri"/>
                        </a:rPr>
                        <a:t>M1 Diagnosis</a:t>
                      </a:r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B8B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B8BDEB"/>
                      </a:solidFill>
                    </a:lnB>
                    <a:solidFill>
                      <a:srgbClr val="EE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rgbClr val="2E1B5B"/>
                          </a:solidFill>
                          <a:latin typeface="Calibri"/>
                          <a:ea typeface="Calibri"/>
                          <a:cs typeface="Calibri"/>
                        </a:rPr>
                        <a:t>Fever + cough → Influenza</a:t>
                      </a:r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B8B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B8BDEB"/>
                      </a:solidFill>
                    </a:lnB>
                    <a:solidFill>
                      <a:srgbClr val="EE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rgbClr val="2E1B5B"/>
                          </a:solidFill>
                          <a:latin typeface="Calibri"/>
                          <a:ea typeface="Calibri"/>
                          <a:cs typeface="Calibri"/>
                        </a:rPr>
                        <a:t>55.3% conf. (6 qubits, 5 iter.)</a:t>
                      </a:r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B8B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B8BDEB"/>
                      </a:solidFill>
                    </a:lnB>
                    <a:solidFill>
                      <a:srgbClr val="EE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2E1B5B"/>
                          </a:solidFill>
                          <a:latin typeface="Calibri"/>
                          <a:ea typeface="Calibri"/>
                          <a:cs typeface="Calibri"/>
                        </a:rPr>
                        <a:t>M1 Diagnosis</a:t>
                      </a:r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B8B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B8BD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rgbClr val="2E1B5B"/>
                          </a:solidFill>
                          <a:latin typeface="Calibri"/>
                          <a:ea typeface="Calibri"/>
                          <a:cs typeface="Calibri"/>
                        </a:rPr>
                        <a:t>Age 58, headache → Migraine with aura</a:t>
                      </a:r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B8B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B8BD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rgbClr val="2E1B5B"/>
                          </a:solidFill>
                          <a:latin typeface="Calibri"/>
                          <a:ea typeface="Calibri"/>
                          <a:cs typeface="Calibri"/>
                        </a:rPr>
                        <a:t>92.4% conf., urgency Amber</a:t>
                      </a:r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B8B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B8BDE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2E1B5B"/>
                          </a:solidFill>
                          <a:latin typeface="Calibri"/>
                          <a:ea typeface="Calibri"/>
                          <a:cs typeface="Calibri"/>
                        </a:rPr>
                        <a:t>M2 Docking</a:t>
                      </a:r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B8B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B8BDEB"/>
                      </a:solidFill>
                    </a:lnB>
                    <a:solidFill>
                      <a:srgbClr val="EE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rgbClr val="2E1B5B"/>
                          </a:solidFill>
                          <a:latin typeface="Calibri"/>
                          <a:ea typeface="Calibri"/>
                          <a:cs typeface="Calibri"/>
                        </a:rPr>
                        <a:t>Sildenafil → PDE5A (PDB 3N55)</a:t>
                      </a:r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B8B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B8BDEB"/>
                      </a:solidFill>
                    </a:lnB>
                    <a:solidFill>
                      <a:srgbClr val="EE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rgbClr val="2E1B5B"/>
                          </a:solidFill>
                          <a:latin typeface="Calibri"/>
                          <a:ea typeface="Calibri"/>
                          <a:cs typeface="Calibri"/>
                        </a:rPr>
                        <a:t>−6.32 kcal/mol, affinity 42/100</a:t>
                      </a:r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B8B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B8BDEB"/>
                      </a:solidFill>
                    </a:lnB>
                    <a:solidFill>
                      <a:srgbClr val="EE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2E1B5B"/>
                          </a:solidFill>
                          <a:latin typeface="Calibri"/>
                          <a:ea typeface="Calibri"/>
                          <a:cs typeface="Calibri"/>
                        </a:rPr>
                        <a:t>M3 Resistance</a:t>
                      </a:r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B8B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B8BD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rgbClr val="2E1B5B"/>
                          </a:solidFill>
                          <a:latin typeface="Calibri"/>
                          <a:ea typeface="Calibri"/>
                          <a:cs typeface="Calibri"/>
                        </a:rPr>
                        <a:t>S. pyogenes → Ethambutol</a:t>
                      </a:r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B8B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B8BD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rgbClr val="2E1B5B"/>
                          </a:solidFill>
                          <a:latin typeface="Calibri"/>
                          <a:ea typeface="Calibri"/>
                          <a:cs typeface="Calibri"/>
                        </a:rPr>
                        <a:t>SUSCEPTIBLE, 89.9% conf.</a:t>
                      </a:r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B8B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B8BDE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2E1B5B"/>
                          </a:solidFill>
                          <a:latin typeface="Calibri"/>
                          <a:ea typeface="Calibri"/>
                          <a:cs typeface="Calibri"/>
                        </a:rPr>
                        <a:t>M4 Imaging</a:t>
                      </a:r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B8B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B8BDEB"/>
                      </a:solidFill>
                    </a:lnB>
                    <a:solidFill>
                      <a:srgbClr val="EE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rgbClr val="2E1B5B"/>
                          </a:solidFill>
                          <a:latin typeface="Calibri"/>
                          <a:ea typeface="Calibri"/>
                          <a:cs typeface="Calibri"/>
                        </a:rPr>
                        <a:t>Brain MRI → Meningioma</a:t>
                      </a:r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B8B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B8BDEB"/>
                      </a:solidFill>
                    </a:lnB>
                    <a:solidFill>
                      <a:srgbClr val="EE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rgbClr val="2E1B5B"/>
                          </a:solidFill>
                          <a:latin typeface="Calibri"/>
                          <a:ea typeface="Calibri"/>
                          <a:cs typeface="Calibri"/>
                        </a:rPr>
                        <a:t>QCNN 92.9% vs CNN 87.6%, 3.5× faster</a:t>
                      </a:r>
                    </a:p>
                  </a:txBody>
                  <a:tcPr marL="64008" marR="45720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B8B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B8BDEB"/>
                      </a:solidFill>
                    </a:lnB>
                    <a:solidFill>
                      <a:srgbClr val="EE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1" name="Observations"/>
          <p:cNvSpPr txBox="1"/>
          <p:nvPr/>
        </p:nvSpPr>
        <p:spPr>
          <a:xfrm>
            <a:off x="5760720" y="1828800"/>
            <a:ext cx="2743200" cy="2697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5B3BA8"/>
                </a:solidFill>
                <a:latin typeface="Calibri"/>
                <a:ea typeface="Calibri"/>
                <a:cs typeface="Calibri"/>
              </a:rPr>
              <a:t>Key observations</a:t>
            </a:r>
          </a:p>
          <a:p>
            <a:pPr marL="171450" indent="-171450" algn="l">
              <a:spcAft>
                <a:spcPts val="4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10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Grover: correct disease state dominates the output</a:t>
            </a:r>
          </a:p>
          <a:p>
            <a:pPr marL="171450" indent="-171450" algn="l">
              <a:spcAft>
                <a:spcPts val="4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10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VQE: Sildenafil–PDE5A matches a known drug–target pair</a:t>
            </a:r>
          </a:p>
          <a:p>
            <a:pPr marL="171450" indent="-171450" algn="l">
              <a:spcAft>
                <a:spcPts val="4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10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QSVM: matches known clinical susceptibility</a:t>
            </a:r>
          </a:p>
          <a:p>
            <a:pPr marL="171450" indent="-171450" algn="l">
              <a:spcAft>
                <a:spcPts val="6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10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QCNN: higher accuracy and faster training than CNN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050" b="1" dirty="0">
                <a:solidFill>
                  <a:srgbClr val="E8639F"/>
                </a:solidFill>
                <a:latin typeface="Calibri"/>
                <a:ea typeface="Calibri"/>
                <a:cs typeface="Calibri"/>
              </a:rPr>
              <a:t>Simulator runs on small datasets: no quantum advantage is claimed.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QCNN Imaging Analysis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pic>
        <p:nvPicPr>
          <p:cNvPr id="122" name="Confusion matrix" descr="QCNN confusion matrix for a CT-scan run, 8 qubits, 4 layer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2721429" cy="2286000"/>
          </a:xfrm>
          <a:prstGeom prst="rect">
            <a:avLst/>
          </a:prstGeom>
        </p:spPr>
      </p:pic>
      <p:sp>
        <p:nvSpPr>
          <p:cNvPr id="123" name="Conf caption"/>
          <p:cNvSpPr txBox="1"/>
          <p:nvPr/>
        </p:nvSpPr>
        <p:spPr>
          <a:xfrm>
            <a:off x="640080" y="4160520"/>
            <a:ext cx="272142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00" i="1" dirty="0">
                <a:solidFill>
                  <a:srgbClr val="6F7399"/>
                </a:solidFill>
                <a:latin typeface="Calibri"/>
                <a:ea typeface="Calibri"/>
                <a:cs typeface="Calibri"/>
              </a:rPr>
              <a:t>Confusion matrix (CT-scan run)</a:t>
            </a:r>
          </a:p>
        </p:txBody>
      </p:sp>
      <p:pic>
        <p:nvPicPr>
          <p:cNvPr id="124" name="Attention heatmap" descr="QCNN attention heatmap 16 by 16 gri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4389" y="1828800"/>
            <a:ext cx="2503714" cy="2286000"/>
          </a:xfrm>
          <a:prstGeom prst="rect">
            <a:avLst/>
          </a:prstGeom>
        </p:spPr>
      </p:pic>
      <p:sp>
        <p:nvSpPr>
          <p:cNvPr id="125" name="Heat caption"/>
          <p:cNvSpPr txBox="1"/>
          <p:nvPr/>
        </p:nvSpPr>
        <p:spPr>
          <a:xfrm>
            <a:off x="3544389" y="4160520"/>
            <a:ext cx="250371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00" i="1" dirty="0">
                <a:solidFill>
                  <a:srgbClr val="6F7399"/>
                </a:solidFill>
                <a:latin typeface="Calibri"/>
                <a:ea typeface="Calibri"/>
                <a:cs typeface="Calibri"/>
              </a:rPr>
              <a:t>Attention heatmap (16×16)</a:t>
            </a:r>
          </a:p>
        </p:txBody>
      </p:sp>
      <p:sp>
        <p:nvSpPr>
          <p:cNvPr id="126" name="QCNN notes"/>
          <p:cNvSpPr txBox="1"/>
          <p:nvPr/>
        </p:nvSpPr>
        <p:spPr>
          <a:xfrm>
            <a:off x="6276703" y="1828800"/>
            <a:ext cx="2227217" cy="2651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5B3BA8"/>
                </a:solidFill>
                <a:latin typeface="Calibri"/>
                <a:ea typeface="Calibri"/>
                <a:cs typeface="Calibri"/>
              </a:rPr>
              <a:t>QCNN setup</a:t>
            </a:r>
          </a:p>
          <a:p>
            <a:pPr marL="171450" indent="-171450" algn="l">
              <a:spcAft>
                <a:spcPts val="3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05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8 qubits, 4 parameterised layers</a:t>
            </a:r>
          </a:p>
          <a:p>
            <a:pPr marL="171450" indent="-171450" algn="l">
              <a:spcAft>
                <a:spcPts val="3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05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Amplitude-encoded MRI / CT / X-ray</a:t>
            </a:r>
          </a:p>
          <a:p>
            <a:pPr marL="171450" indent="-171450" algn="l">
              <a:spcAft>
                <a:spcPts val="3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05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Heatmap shows which region drives the prediction</a:t>
            </a:r>
          </a:p>
          <a:p>
            <a:pPr marL="171450" indent="-171450" algn="l">
              <a:spcAft>
                <a:spcPts val="3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05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Simulator result on a small dataset, not clinically validated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&amp; Real-World Applications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27" name="Medical Education"/>
          <p:cNvSpPr/>
          <p:nvPr/>
        </p:nvSpPr>
        <p:spPr>
          <a:xfrm>
            <a:off x="640080" y="1828800"/>
            <a:ext cx="2514600" cy="1261872"/>
          </a:xfrm>
          <a:prstGeom prst="roundRect">
            <a:avLst>
              <a:gd name="adj" fmla="val 6000"/>
            </a:avLst>
          </a:prstGeom>
          <a:solidFill>
            <a:srgbClr val="EEF0FE"/>
          </a:solidFill>
          <a:ln>
            <a:noFill/>
          </a:ln>
        </p:spPr>
        <p:txBody>
          <a:bodyPr wrap="square" lIns="137160" tIns="91440" rIns="109728" bIns="45720" rtlCol="0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5B3BA8"/>
                </a:solidFill>
                <a:latin typeface="Calibri"/>
                <a:ea typeface="Calibri"/>
                <a:cs typeface="Calibri"/>
              </a:rPr>
              <a:t>Medical Education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15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MBBS, BPharm and CSE students learn quantum algorithms through healthcare problems, not abstract circuits</a:t>
            </a:r>
          </a:p>
        </p:txBody>
      </p:sp>
      <p:sp>
        <p:nvSpPr>
          <p:cNvPr id="128" name="Pharmacology Research"/>
          <p:cNvSpPr/>
          <p:nvPr/>
        </p:nvSpPr>
        <p:spPr>
          <a:xfrm>
            <a:off x="3314700" y="1828800"/>
            <a:ext cx="2514600" cy="1261872"/>
          </a:xfrm>
          <a:prstGeom prst="roundRect">
            <a:avLst>
              <a:gd name="adj" fmla="val 6000"/>
            </a:avLst>
          </a:prstGeom>
          <a:solidFill>
            <a:srgbClr val="EEF0FE"/>
          </a:solidFill>
          <a:ln>
            <a:noFill/>
          </a:ln>
        </p:spPr>
        <p:txBody>
          <a:bodyPr wrap="square" lIns="137160" tIns="91440" rIns="109728" bIns="45720" rtlCol="0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5B3BA8"/>
                </a:solidFill>
                <a:latin typeface="Calibri"/>
                <a:ea typeface="Calibri"/>
                <a:cs typeface="Calibri"/>
              </a:rPr>
              <a:t>Pharmacology Research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15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Run VQE-based docking without paying for hardware or commercial software</a:t>
            </a:r>
          </a:p>
        </p:txBody>
      </p:sp>
      <p:sp>
        <p:nvSpPr>
          <p:cNvPr id="129" name="Clinical Microbiology"/>
          <p:cNvSpPr/>
          <p:nvPr/>
        </p:nvSpPr>
        <p:spPr>
          <a:xfrm>
            <a:off x="5989320" y="1828800"/>
            <a:ext cx="2514600" cy="1261872"/>
          </a:xfrm>
          <a:prstGeom prst="roundRect">
            <a:avLst>
              <a:gd name="adj" fmla="val 6000"/>
            </a:avLst>
          </a:prstGeom>
          <a:solidFill>
            <a:srgbClr val="EEF0FE"/>
          </a:solidFill>
          <a:ln>
            <a:noFill/>
          </a:ln>
        </p:spPr>
        <p:txBody>
          <a:bodyPr wrap="square" lIns="137160" tIns="91440" rIns="109728" bIns="45720" rtlCol="0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5B3BA8"/>
                </a:solidFill>
                <a:latin typeface="Calibri"/>
                <a:ea typeface="Calibri"/>
                <a:cs typeface="Calibri"/>
              </a:rPr>
              <a:t>Clinical Microbiology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15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QSVM resistance predictor as a teaching tool for antibiotic susceptibility</a:t>
            </a:r>
          </a:p>
        </p:txBody>
      </p:sp>
      <p:sp>
        <p:nvSpPr>
          <p:cNvPr id="130" name="Radiology Training"/>
          <p:cNvSpPr/>
          <p:nvPr/>
        </p:nvSpPr>
        <p:spPr>
          <a:xfrm>
            <a:off x="640080" y="3200400"/>
            <a:ext cx="2514600" cy="1261872"/>
          </a:xfrm>
          <a:prstGeom prst="roundRect">
            <a:avLst>
              <a:gd name="adj" fmla="val 6000"/>
            </a:avLst>
          </a:prstGeom>
          <a:solidFill>
            <a:srgbClr val="EEF0FE"/>
          </a:solidFill>
          <a:ln>
            <a:noFill/>
          </a:ln>
        </p:spPr>
        <p:txBody>
          <a:bodyPr wrap="square" lIns="137160" tIns="91440" rIns="109728" bIns="45720" rtlCol="0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5B3BA8"/>
                </a:solidFill>
                <a:latin typeface="Calibri"/>
                <a:ea typeface="Calibri"/>
                <a:cs typeface="Calibri"/>
              </a:rPr>
              <a:t>Radiology Training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15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QCNN shows how quantum models handle imaging anomalies in MRI, CT and X-ray</a:t>
            </a:r>
          </a:p>
        </p:txBody>
      </p:sp>
      <p:sp>
        <p:nvSpPr>
          <p:cNvPr id="131" name="Classroom Instruction"/>
          <p:cNvSpPr/>
          <p:nvPr/>
        </p:nvSpPr>
        <p:spPr>
          <a:xfrm>
            <a:off x="3314700" y="3200400"/>
            <a:ext cx="2514600" cy="1261872"/>
          </a:xfrm>
          <a:prstGeom prst="roundRect">
            <a:avLst>
              <a:gd name="adj" fmla="val 6000"/>
            </a:avLst>
          </a:prstGeom>
          <a:solidFill>
            <a:srgbClr val="EEF0FE"/>
          </a:solidFill>
          <a:ln>
            <a:noFill/>
          </a:ln>
        </p:spPr>
        <p:txBody>
          <a:bodyPr wrap="square" lIns="137160" tIns="91440" rIns="109728" bIns="45720" rtlCol="0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5B3BA8"/>
                </a:solidFill>
                <a:latin typeface="Calibri"/>
                <a:ea typeface="Calibri"/>
                <a:cs typeface="Calibri"/>
              </a:rPr>
              <a:t>Classroom Instruction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15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Instructors set shared quantum exercises for a whole cohort</a:t>
            </a:r>
          </a:p>
        </p:txBody>
      </p:sp>
      <p:sp>
        <p:nvSpPr>
          <p:cNvPr id="132" name="Quantum Research"/>
          <p:cNvSpPr/>
          <p:nvPr/>
        </p:nvSpPr>
        <p:spPr>
          <a:xfrm>
            <a:off x="5989320" y="3200400"/>
            <a:ext cx="2514600" cy="1261872"/>
          </a:xfrm>
          <a:prstGeom prst="roundRect">
            <a:avLst>
              <a:gd name="adj" fmla="val 6000"/>
            </a:avLst>
          </a:prstGeom>
          <a:solidFill>
            <a:srgbClr val="EEF0FE"/>
          </a:solidFill>
          <a:ln>
            <a:noFill/>
          </a:ln>
        </p:spPr>
        <p:txBody>
          <a:bodyPr wrap="square" lIns="137160" tIns="91440" rIns="109728" bIns="45720" rtlCol="0" anchor="t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5B3BA8"/>
                </a:solidFill>
                <a:latin typeface="Calibri"/>
                <a:ea typeface="Calibri"/>
                <a:cs typeface="Calibri"/>
              </a:rPr>
              <a:t>Quantum Research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15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Common healthcare benchmark for comparing different hardware backends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Future Scope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33" name="Challenges"/>
          <p:cNvSpPr txBox="1"/>
          <p:nvPr/>
        </p:nvSpPr>
        <p:spPr>
          <a:xfrm>
            <a:off x="640080" y="1828800"/>
            <a:ext cx="3794760" cy="2697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5B3BA8"/>
                </a:solidFill>
                <a:latin typeface="Calibri"/>
                <a:ea typeface="Calibri"/>
                <a:cs typeface="Calibri"/>
              </a:rPr>
              <a:t>Challenges</a:t>
            </a:r>
          </a:p>
          <a:p>
            <a:pPr marL="171450" indent="-171450" algn="l">
              <a:spcAft>
                <a:spcPts val="4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25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Most runs are simulator-based; real hardware is limited by queue time and noise</a:t>
            </a:r>
          </a:p>
          <a:p>
            <a:pPr marL="171450" indent="-171450" algn="l">
              <a:spcAft>
                <a:spcPts val="4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25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Small datasets: 84 symptoms, 30 drug–protein pairs, 22 pathogens</a:t>
            </a:r>
          </a:p>
          <a:p>
            <a:pPr marL="171450" indent="-171450" algn="l">
              <a:spcAft>
                <a:spcPts val="4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25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VQE on current hardware handles only small molecules</a:t>
            </a:r>
          </a:p>
          <a:p>
            <a:pPr marL="171450" indent="-171450" algn="l">
              <a:spcAft>
                <a:spcPts val="4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25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Classical baselines stay competitive, so quantum advantage is conditional</a:t>
            </a:r>
          </a:p>
          <a:p>
            <a:pPr marL="171450" indent="-171450" algn="l">
              <a:spcAft>
                <a:spcPts val="4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25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Not a certified medical device; AI layer depends on a paid LLM API</a:t>
            </a:r>
          </a:p>
        </p:txBody>
      </p:sp>
      <p:sp>
        <p:nvSpPr>
          <p:cNvPr id="134" name="Future scope"/>
          <p:cNvSpPr txBox="1"/>
          <p:nvPr/>
        </p:nvSpPr>
        <p:spPr>
          <a:xfrm>
            <a:off x="4709160" y="1828800"/>
            <a:ext cx="3794760" cy="2697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5B3BA8"/>
                </a:solidFill>
                <a:latin typeface="Calibri"/>
                <a:ea typeface="Calibri"/>
                <a:cs typeface="Calibri"/>
              </a:rPr>
              <a:t>Future Scope</a:t>
            </a:r>
          </a:p>
          <a:p>
            <a:pPr marL="171450" indent="-171450" algn="l">
              <a:spcAft>
                <a:spcPts val="4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25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Real-hardware execution with queue-time and cost estimates</a:t>
            </a:r>
          </a:p>
          <a:p>
            <a:pPr marL="171450" indent="-171450" algn="l">
              <a:spcAft>
                <a:spcPts val="4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25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Azure Quantum and Amazon Braket for gate-based vs annealing comparison</a:t>
            </a:r>
          </a:p>
          <a:p>
            <a:pPr marL="171450" indent="-171450" algn="l">
              <a:spcAft>
                <a:spcPts val="4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25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Noise-aware sandbox with error mitigation</a:t>
            </a:r>
          </a:p>
          <a:p>
            <a:pPr marL="171450" indent="-171450" algn="l">
              <a:spcAft>
                <a:spcPts val="4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25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Automated PDF / Word reports and a public benchmark leaderboard</a:t>
            </a:r>
          </a:p>
          <a:p>
            <a:pPr marL="171450" indent="-171450" algn="l">
              <a:spcAft>
                <a:spcPts val="400"/>
              </a:spcAft>
              <a:buClr>
                <a:srgbClr val="E8639F"/>
              </a:buClr>
              <a:buFont typeface="Arial"/>
              <a:buChar char="•"/>
            </a:pPr>
            <a:r>
              <a:rPr lang="en-US" sz="1250" dirty="0">
                <a:solidFill>
                  <a:srgbClr val="2E1B5B"/>
                </a:solidFill>
                <a:latin typeface="Calibri"/>
                <a:ea typeface="Calibri"/>
                <a:cs typeface="Calibri"/>
              </a:rPr>
              <a:t>Multi-target docking, Q-BAFNet-style hybrid model, collaborative sessions, mobile / VR-AR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E863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88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Inspiring Minds. Shaping Tomorrow.</a:t>
            </a:r>
            <a:endParaRPr lang="en-US" sz="1300" dirty="0"/>
          </a:p>
        </p:txBody>
      </p:sp>
      <p:sp>
        <p:nvSpPr>
          <p:cNvPr id="5" name="Field: GITHUB REPOSITORY"/>
          <p:cNvSpPr/>
          <p:nvPr/>
        </p:nvSpPr>
        <p:spPr>
          <a:xfrm>
            <a:off x="529667" y="3080906"/>
            <a:ext cx="2142931" cy="84056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</a:t>
            </a:r>
            <a:r>
              <a:rPr lang="en-US" sz="900" b="1" kern="0" spc="100" dirty="0" smtClean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</a:p>
          <a:p>
            <a:r>
              <a:rPr lang="en-IN" sz="900" dirty="0">
                <a:hlinkClick r:id="rId3"/>
              </a:rPr>
              <a:t>GitHub - vtu-qiskit-fall-fest-2026/</a:t>
            </a:r>
            <a:r>
              <a:rPr lang="en-IN" sz="900" dirty="0" err="1">
                <a:hlinkClick r:id="rId3"/>
              </a:rPr>
              <a:t>vtu</a:t>
            </a:r>
            <a:r>
              <a:rPr lang="en-IN" sz="900" dirty="0">
                <a:hlinkClick r:id="rId3"/>
              </a:rPr>
              <a:t>-</a:t>
            </a:r>
            <a:r>
              <a:rPr lang="en-IN" sz="900" dirty="0" err="1">
                <a:hlinkClick r:id="rId3"/>
              </a:rPr>
              <a:t>hc</a:t>
            </a:r>
            <a:r>
              <a:rPr lang="en-IN" sz="900" dirty="0">
                <a:hlinkClick r:id="rId3"/>
              </a:rPr>
              <a:t>-team-cis: VTU-QFF-HC-0118 | Team - CIS | Tier: Both · GitHub</a:t>
            </a:r>
            <a:endParaRPr lang="en-US" sz="900" b="1" kern="0" spc="100" dirty="0" smtClean="0">
              <a:solidFill>
                <a:srgbClr val="5B3BA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" name="Field: DEMO VIDEO LINK"/>
          <p:cNvSpPr/>
          <p:nvPr/>
        </p:nvSpPr>
        <p:spPr>
          <a:xfrm>
            <a:off x="2743200" y="3080906"/>
            <a:ext cx="2286000" cy="84056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</a:t>
            </a:r>
            <a:r>
              <a:rPr lang="en-US" sz="900" b="1" kern="0" spc="100" dirty="0" smtClean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</a:t>
            </a:r>
          </a:p>
          <a:p>
            <a:r>
              <a:rPr lang="en-US" sz="1100" dirty="0">
                <a:hlinkClick r:id="rId4"/>
              </a:rPr>
              <a:t>https://youtu.be/Lfiy4g3N-Mo?si=_hdOXJs-LKXFHCs8</a:t>
            </a:r>
            <a:endParaRPr lang="en-US" sz="1100" dirty="0"/>
          </a:p>
        </p:txBody>
      </p:sp>
      <p:pic>
        <p:nvPicPr>
          <p:cNvPr id="7" name="Bloch sphere ring" descr="sphe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0781" y="1097280"/>
            <a:ext cx="3200400" cy="3200400"/>
          </a:xfrm>
          <a:prstGeom prst="rect">
            <a:avLst/>
          </a:prstGeom>
        </p:spPr>
      </p:pic>
      <p:pic>
        <p:nvPicPr>
          <p:cNvPr id="8" name="Image 1" descr="bird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914400"/>
            <a:ext cx="822960" cy="493776"/>
          </a:xfrm>
          <a:prstGeom prst="rect">
            <a:avLst/>
          </a:prstGeom>
        </p:spPr>
      </p:pic>
      <p:pic>
        <p:nvPicPr>
          <p:cNvPr id="9" name="Image 2" descr="bird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3840480"/>
            <a:ext cx="548640" cy="329184"/>
          </a:xfrm>
          <a:prstGeom prst="rect">
            <a:avLst/>
          </a:prstGeom>
        </p:spPr>
      </p:pic>
      <p:pic>
        <p:nvPicPr>
          <p:cNvPr id="10" name="Image 3" descr="bird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0" y="4023360"/>
            <a:ext cx="457200" cy="274320"/>
          </a:xfrm>
          <a:prstGeom prst="rect">
            <a:avLst/>
          </a:prstGeom>
        </p:spPr>
      </p:pic>
      <p:sp>
        <p:nvSpPr>
          <p:cNvPr id="11" name="Field: GITHUB REPOSITORY"/>
          <p:cNvSpPr/>
          <p:nvPr/>
        </p:nvSpPr>
        <p:spPr>
          <a:xfrm>
            <a:off x="590316" y="4068396"/>
            <a:ext cx="4164564" cy="565808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 smtClean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DEEPLOYMENT LINK </a:t>
            </a:r>
            <a:endParaRPr lang="en-US" sz="900" b="1" kern="0" spc="100" dirty="0" smtClean="0">
              <a:solidFill>
                <a:srgbClr val="5B3BA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000" dirty="0">
                <a:hlinkClick r:id="rId9"/>
              </a:rPr>
              <a:t>https://q-med-lab-project-rh6g1y0su-abdulrazak5764s-projects.vercel.app/</a:t>
            </a:r>
            <a:endParaRPr lang="en-US" sz="1000" dirty="0"/>
          </a:p>
        </p:txBody>
      </p:sp>
      <p:pic>
        <p:nvPicPr>
          <p:cNvPr id="13" name="Image 2" descr="bird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03427" y="4469612"/>
            <a:ext cx="548640" cy="3291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Qiskit Fall Fest">
  <a:themeElements>
    <a:clrScheme name="Qiskit Fall Fest">
      <a:dk1>
        <a:srgbClr val="2E1B5B"/>
      </a:dk1>
      <a:lt1>
        <a:srgbClr val="FFFFFF"/>
      </a:lt1>
      <a:dk2>
        <a:srgbClr val="4B2BA8"/>
      </a:dk2>
      <a:lt2>
        <a:srgbClr val="DDE2FC"/>
      </a:lt2>
      <a:accent1>
        <a:srgbClr val="E0558F"/>
      </a:accent1>
      <a:accent2>
        <a:srgbClr val="6B3FD4"/>
      </a:accent2>
      <a:accent3>
        <a:srgbClr val="F5C33B"/>
      </a:accent3>
      <a:accent4>
        <a:srgbClr val="3B82F6"/>
      </a:accent4>
      <a:accent5>
        <a:srgbClr val="7B58B8"/>
      </a:accent5>
      <a:accent6>
        <a:srgbClr val="2BB5A0"/>
      </a:accent6>
      <a:hlink>
        <a:srgbClr val="6B3FD4"/>
      </a:hlink>
      <a:folHlink>
        <a:srgbClr val="4B2BA8"/>
      </a:folHlink>
    </a:clrScheme>
    <a:fontScheme name="Qiskit Fall Fest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1090</Words>
  <Application>Microsoft Office PowerPoint</Application>
  <PresentationFormat>On-screen Show (16:9)</PresentationFormat>
  <Paragraphs>189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Georgia</vt:lpstr>
      <vt:lpstr>Nirmala UI</vt:lpstr>
      <vt:lpstr>Qiskit Fall Fest</vt:lpstr>
      <vt:lpstr>PowerPoint Presentation</vt:lpstr>
      <vt:lpstr>Problem Statement</vt:lpstr>
      <vt:lpstr>Objectives &amp; Novelty</vt:lpstr>
      <vt:lpstr>Solution &amp; Quantum Advantage</vt:lpstr>
      <vt:lpstr>Algorithm &amp; Circuit Design</vt:lpstr>
      <vt:lpstr>Implementation &amp; Tech Stack</vt:lpstr>
      <vt:lpstr>Results &amp; Analysis</vt:lpstr>
      <vt:lpstr>Results: QCNN Imaging Analysis</vt:lpstr>
      <vt:lpstr>Impact &amp; Real-World Applications</vt:lpstr>
      <vt:lpstr>Challenges &amp; Future Scope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Shaik.AbdulRazak</dc:creator>
  <cp:lastModifiedBy>Shaik.AbdulRazak</cp:lastModifiedBy>
  <cp:revision>7</cp:revision>
  <dcterms:modified xsi:type="dcterms:W3CDTF">2026-10-23T08:38:29Z</dcterms:modified>
</cp:coreProperties>
</file>